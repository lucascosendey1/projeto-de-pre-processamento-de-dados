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6696" y="571500"/>
            <a:ext cx="7150608" cy="1645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spcAft>
                <a:spcPts val="3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Impacto da Engenharia de Features Temporais na Previsão de Demanda de Bicicletas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91490" y="2598241"/>
            <a:ext cx="816102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2250"/>
              </a:spcBef>
              <a:spcAft>
                <a:spcPts val="225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Pré-processamento de Dados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91490" y="3299222"/>
            <a:ext cx="816102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3000"/>
              </a:spcBef>
              <a:spcAft>
                <a:spcPts val="1500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Edson • Djefferson dos Santos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91490" y="3973562"/>
            <a:ext cx="816102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João Pessoa, PB • Novembro 2025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6205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81000"/>
            <a:ext cx="409022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150" dirty="0"/>
          </a:p>
        </p:txBody>
      </p:sp>
      <p:sp>
        <p:nvSpPr>
          <p:cNvPr id="4" name="Text 2"/>
          <p:cNvSpPr/>
          <p:nvPr/>
        </p:nvSpPr>
        <p:spPr>
          <a:xfrm>
            <a:off x="762000" y="1657350"/>
            <a:ext cx="7620000" cy="636240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90575" y="1657350"/>
            <a:ext cx="0" cy="636240"/>
          </a:xfrm>
          <a:prstGeom prst="line">
            <a:avLst/>
          </a:prstGeom>
          <a:noFill/>
          <a:ln w="5715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4900" y="1828800"/>
            <a:ext cx="7131177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Introdução e Objetivos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62000" y="2407890"/>
            <a:ext cx="7620000" cy="636240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90575" y="2407890"/>
            <a:ext cx="0" cy="636240"/>
          </a:xfrm>
          <a:prstGeom prst="line">
            <a:avLst/>
          </a:prstGeom>
          <a:noFill/>
          <a:ln w="5715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4900" y="2579340"/>
            <a:ext cx="7131177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Metodologia: Baseline vs Pipeline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62000" y="3158430"/>
            <a:ext cx="7620000" cy="636240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90575" y="3158430"/>
            <a:ext cx="0" cy="636240"/>
          </a:xfrm>
          <a:prstGeom prst="line">
            <a:avLst/>
          </a:prstGeom>
          <a:noFill/>
          <a:ln w="5715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04900" y="3329880"/>
            <a:ext cx="7131177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e Análises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62000" y="3908971"/>
            <a:ext cx="7620000" cy="636240"/>
          </a:xfrm>
          <a:prstGeom prst="rect">
            <a:avLst/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90575" y="3908971"/>
            <a:ext cx="0" cy="636240"/>
          </a:xfrm>
          <a:prstGeom prst="line">
            <a:avLst/>
          </a:prstGeom>
          <a:noFill/>
          <a:ln w="5715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4900" y="4080421"/>
            <a:ext cx="7131177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Conclusões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4775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33375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e Objetivo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1500" y="1524000"/>
            <a:ext cx="4090226" cy="296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33"/>
              </a:lnSpc>
              <a:spcAft>
                <a:spcPts val="1500"/>
              </a:spcAft>
              <a:buNone/>
            </a:pPr>
            <a:r>
              <a:rPr lang="en-US" sz="21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Desafio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71500" y="2010817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Prever demanda de bicicletas compartilhadas em sistemas urbanos de mobilidade.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1500" y="2601367"/>
            <a:ext cx="8001000" cy="1146572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5313" y="2601367"/>
            <a:ext cx="0" cy="1146572"/>
          </a:xfrm>
          <a:prstGeom prst="line">
            <a:avLst/>
          </a:prstGeom>
          <a:noFill/>
          <a:ln w="47625">
            <a:solidFill>
              <a:srgbClr val="FFB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7250" y="2839492"/>
            <a:ext cx="7626668" cy="670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16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Objetivo: Demonstrar empiricamente o impacto da engenharia de features temporais no desempenho preditivo.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4775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33375"/>
            <a:ext cx="566413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Bike Sharing Demand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1500" y="1524000"/>
            <a:ext cx="3857625" cy="1229171"/>
          </a:xfrm>
          <a:prstGeom prst="roundRect">
            <a:avLst>
              <a:gd name="adj" fmla="val 6199"/>
            </a:avLst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35633" y="1762125"/>
            <a:ext cx="1729359" cy="44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31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10.886</a:t>
            </a:r>
            <a:endParaRPr lang="en-US" sz="3150" dirty="0"/>
          </a:p>
        </p:txBody>
      </p:sp>
      <p:sp>
        <p:nvSpPr>
          <p:cNvPr id="6" name="Text 4"/>
          <p:cNvSpPr/>
          <p:nvPr/>
        </p:nvSpPr>
        <p:spPr>
          <a:xfrm>
            <a:off x="775811" y="2301776"/>
            <a:ext cx="344900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750"/>
              </a:spcBef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 horários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1500" y="3096071"/>
            <a:ext cx="3857625" cy="1229171"/>
          </a:xfrm>
          <a:prstGeom prst="roundRect">
            <a:avLst>
              <a:gd name="adj" fmla="val 6199"/>
            </a:avLst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533620" y="3334196"/>
            <a:ext cx="1933385" cy="444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500"/>
              </a:lnSpc>
              <a:buNone/>
            </a:pPr>
            <a:r>
              <a:rPr lang="en-US" sz="31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2011-2012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775811" y="3873847"/>
            <a:ext cx="344900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750"/>
              </a:spcBef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Período de coleta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14875" y="2353121"/>
            <a:ext cx="3857625" cy="11430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Washington D.C. (Capital Bikeshare)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clima, temperatura, umidade, sazonalidade</a:t>
            </a:r>
            <a:endParaRPr lang="en-US" sz="1350" dirty="0"/>
          </a:p>
          <a:p>
            <a:pPr algn="l" marL="85725" indent="-85725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número total de aluguéis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4775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33375"/>
            <a:ext cx="45177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Baseline (Antes)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1500" y="1476375"/>
            <a:ext cx="4090226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1875"/>
              </a:spcAft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Abordagem Ingênua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1500" y="1968401"/>
            <a:ext cx="8001000" cy="876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brutas: season, holiday, weather, temp, humidity, windspeed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Tratamento mínimo: dropna() + LabelEncoder</a:t>
            </a:r>
            <a:endParaRPr lang="en-US" sz="1350" dirty="0"/>
          </a:p>
          <a:p>
            <a:pPr algn="l" marL="95250" indent="-95250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engenharia de features temporais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3178076"/>
            <a:ext cx="8001000" cy="1500932"/>
          </a:xfrm>
          <a:prstGeom prst="roundRect">
            <a:avLst>
              <a:gd name="adj" fmla="val 5077"/>
            </a:avLst>
          </a:prstGeom>
          <a:solidFill>
            <a:srgbClr val="FFE6E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2955" y="3463826"/>
            <a:ext cx="7578090" cy="59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80"/>
              </a:lnSpc>
              <a:buNone/>
            </a:pPr>
            <a:r>
              <a:rPr lang="en-US" sz="39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RMSLE: 1.2687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782955" y="4153346"/>
            <a:ext cx="757809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750"/>
              </a:spcBef>
              <a:buNone/>
            </a:pPr>
            <a:r>
              <a:rPr lang="en-US" sz="13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do modelo baseline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4775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33375"/>
            <a:ext cx="501319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Otimizado (Depois)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1500" y="1428750"/>
            <a:ext cx="4614863" cy="253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Completo de Pré-processamento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1500" y="1968401"/>
            <a:ext cx="3857625" cy="91053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95313" y="1968401"/>
            <a:ext cx="0" cy="910530"/>
          </a:xfrm>
          <a:prstGeom prst="line">
            <a:avLst/>
          </a:prstGeom>
          <a:noFill/>
          <a:ln w="47625">
            <a:solidFill>
              <a:srgbClr val="00B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9625" y="2158901"/>
            <a:ext cx="349758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Decomposição Temporal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9625" y="2459831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hora, dia_da_semana, mês, ano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1500" y="3221831"/>
            <a:ext cx="3857625" cy="91053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95313" y="3221831"/>
            <a:ext cx="0" cy="910530"/>
          </a:xfrm>
          <a:prstGeom prst="line">
            <a:avLst/>
          </a:prstGeom>
          <a:noFill/>
          <a:ln w="47625">
            <a:solidFill>
              <a:srgbClr val="00B0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625" y="3412331"/>
            <a:ext cx="349758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Transformações Cíclicas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9625" y="3713262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sin/cos para hora e mês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14875" y="1968401"/>
            <a:ext cx="3857625" cy="91053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38688" y="1968401"/>
            <a:ext cx="0" cy="910530"/>
          </a:xfrm>
          <a:prstGeom prst="line">
            <a:avLst/>
          </a:prstGeom>
          <a:noFill/>
          <a:ln w="47625">
            <a:solidFill>
              <a:srgbClr val="00B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3000" y="2158901"/>
            <a:ext cx="349758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Log-Transform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53000" y="2459831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Normalização do target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14875" y="3221831"/>
            <a:ext cx="3857625" cy="910530"/>
          </a:xfrm>
          <a:prstGeom prst="rect">
            <a:avLst/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738688" y="3221831"/>
            <a:ext cx="0" cy="910530"/>
          </a:xfrm>
          <a:prstGeom prst="line">
            <a:avLst/>
          </a:prstGeom>
          <a:noFill/>
          <a:ln w="47625">
            <a:solidFill>
              <a:srgbClr val="00B0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3000" y="3412331"/>
            <a:ext cx="349758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Robusto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953000" y="3713262"/>
            <a:ext cx="34975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OneHotEncoder + MinMaxScaler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4775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33375"/>
            <a:ext cx="532409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da Variável Alvo</a:t>
            </a: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4775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33375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Padrões nos Dados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4775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33375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Correlação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4775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33375"/>
            <a:ext cx="512006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Comparação de Resultados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2000" y="1571625"/>
            <a:ext cx="3619500" cy="1475929"/>
          </a:xfrm>
          <a:prstGeom prst="roundRect">
            <a:avLst>
              <a:gd name="adj" fmla="val 6454"/>
            </a:avLst>
          </a:prstGeom>
          <a:solidFill>
            <a:srgbClr val="FFE6E6"/>
          </a:solidFill>
          <a:ln w="38100">
            <a:solidFill>
              <a:srgbClr val="C0392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784795" y="1847850"/>
            <a:ext cx="1573911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33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7555" y="2131368"/>
            <a:ext cx="312839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1.2687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762500" y="1571625"/>
            <a:ext cx="3619500" cy="1475929"/>
          </a:xfrm>
          <a:prstGeom prst="roundRect">
            <a:avLst>
              <a:gd name="adj" fmla="val 6454"/>
            </a:avLst>
          </a:prstGeom>
          <a:solidFill>
            <a:srgbClr val="E8F5E9"/>
          </a:solidFill>
          <a:ln w="38100">
            <a:solidFill>
              <a:srgbClr val="00B0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85295" y="1847850"/>
            <a:ext cx="1573911" cy="169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33"/>
              </a:lnSpc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08055" y="2131368"/>
            <a:ext cx="312839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0.3020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62000" y="3285679"/>
            <a:ext cx="7620000" cy="1432322"/>
          </a:xfrm>
          <a:prstGeom prst="roundRect">
            <a:avLst>
              <a:gd name="adj" fmla="val 6650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28688" y="3523804"/>
            <a:ext cx="728662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4200" b="1" dirty="0">
                <a:solidFill>
                  <a:srgbClr val="FFB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76.19%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928688" y="4239964"/>
            <a:ext cx="7286625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Bef>
                <a:spcPts val="600"/>
              </a:spcBef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MELHORIA NO ERRO DE PREVISÃO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4775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33375"/>
            <a:ext cx="460514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Qualidade das Previsões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4775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33375"/>
            <a:ext cx="522693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Fatores Críticos de Sucesso</a:t>
            </a:r>
            <a:endParaRPr lang="en-US" sz="3000" dirty="0"/>
          </a:p>
        </p:txBody>
      </p:sp>
      <p:pic>
        <p:nvPicPr>
          <p:cNvPr id="4" name="Image 0" descr="/tmp/rasterized-gradient-7bbacf6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381125"/>
            <a:ext cx="3881438" cy="12573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6775" y="1619250"/>
            <a:ext cx="34149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Decomposição Temporal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66775" y="1943100"/>
            <a:ext cx="3414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Extração de hora, dia, mês e ano revelou padrões de pico</a:t>
            </a:r>
            <a:endParaRPr lang="en-US" sz="1200" dirty="0"/>
          </a:p>
        </p:txBody>
      </p:sp>
      <p:pic>
        <p:nvPicPr>
          <p:cNvPr id="7" name="Image 1" descr="/tmp/rasterized-gradient-e709357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063" y="1381125"/>
            <a:ext cx="3881438" cy="12573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86338" y="1619250"/>
            <a:ext cx="34149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Transformações Cíclicas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986338" y="1943100"/>
            <a:ext cx="34149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sin/cos capturaram a natureza cíclica do tempo</a:t>
            </a:r>
            <a:endParaRPr lang="en-US" sz="1200" dirty="0"/>
          </a:p>
        </p:txBody>
      </p:sp>
      <p:pic>
        <p:nvPicPr>
          <p:cNvPr id="10" name="Image 2" descr="/tmp/rasterized-gradient-5c06301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76550"/>
            <a:ext cx="3881438" cy="10287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6775" y="3114675"/>
            <a:ext cx="34149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Log-Transform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66775" y="3438525"/>
            <a:ext cx="34149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Normalização da distribuição assimétrica</a:t>
            </a:r>
            <a:endParaRPr lang="en-US" sz="1200" dirty="0"/>
          </a:p>
        </p:txBody>
      </p:sp>
      <p:pic>
        <p:nvPicPr>
          <p:cNvPr id="13" name="Image 3" descr="/tmp/rasterized-gradient-3683c59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063" y="2876550"/>
            <a:ext cx="3881438" cy="10287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86338" y="3114675"/>
            <a:ext cx="34149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 Correto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4986338" y="3438525"/>
            <a:ext cx="34149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OneHotEncoder evitou ordenação artificial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4775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33375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Prático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62000" y="1428750"/>
            <a:ext cx="3667125" cy="1451521"/>
          </a:xfrm>
          <a:prstGeom prst="roundRect">
            <a:avLst>
              <a:gd name="adj" fmla="val 5250"/>
            </a:avLst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16794" y="1714500"/>
            <a:ext cx="3157538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spcAft>
                <a:spcPts val="1125"/>
              </a:spcAft>
              <a:buNone/>
            </a:pPr>
            <a:r>
              <a:rPr lang="en-US" sz="16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Otimização de Estoque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016794" y="2108746"/>
            <a:ext cx="3157538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eficiente de bicicletas entre estações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4714875" y="1428750"/>
            <a:ext cx="3667125" cy="1451521"/>
          </a:xfrm>
          <a:prstGeom prst="roundRect">
            <a:avLst>
              <a:gd name="adj" fmla="val 5250"/>
            </a:avLst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69669" y="1714500"/>
            <a:ext cx="3157538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spcAft>
                <a:spcPts val="1125"/>
              </a:spcAft>
              <a:buNone/>
            </a:pPr>
            <a:r>
              <a:rPr lang="en-US" sz="16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Planejamento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4969669" y="2108746"/>
            <a:ext cx="3157538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Antecipação de horários de pico para manutenção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762000" y="3166021"/>
            <a:ext cx="3667125" cy="1451521"/>
          </a:xfrm>
          <a:prstGeom prst="roundRect">
            <a:avLst>
              <a:gd name="adj" fmla="val 5250"/>
            </a:avLst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16794" y="3451771"/>
            <a:ext cx="3157538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spcAft>
                <a:spcPts val="1125"/>
              </a:spcAft>
              <a:buNone/>
            </a:pPr>
            <a:r>
              <a:rPr lang="en-US" sz="16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Dinâmico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016794" y="3846016"/>
            <a:ext cx="3157538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 de preços baseado em demanda prevista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4714875" y="3166021"/>
            <a:ext cx="3667125" cy="1451521"/>
          </a:xfrm>
          <a:prstGeom prst="roundRect">
            <a:avLst>
              <a:gd name="adj" fmla="val 5250"/>
            </a:avLst>
          </a:prstGeom>
          <a:solidFill>
            <a:srgbClr val="F4F6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969669" y="3451771"/>
            <a:ext cx="3157538" cy="251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80"/>
              </a:lnSpc>
              <a:spcAft>
                <a:spcPts val="1125"/>
              </a:spcAft>
              <a:buNone/>
            </a:pPr>
            <a:r>
              <a:rPr lang="en-US" sz="165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Sustentabilidade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969669" y="3846016"/>
            <a:ext cx="315753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Redução de custos e impacto ambiental</a:t>
            </a:r>
            <a:endParaRPr lang="en-US" sz="12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47750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333375"/>
            <a:ext cx="409022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Conclusões</a:t>
            </a:r>
            <a:endParaRPr lang="en-US" sz="3000" dirty="0"/>
          </a:p>
        </p:txBody>
      </p:sp>
      <p:pic>
        <p:nvPicPr>
          <p:cNvPr id="4" name="Image 0" descr="/tmp/rasterized-gradient-8566ba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1600200"/>
            <a:ext cx="7810500" cy="7239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8700" y="1809750"/>
            <a:ext cx="73060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Pré-processamento é determinante para o sucesso de modelos preditivos</a:t>
            </a:r>
            <a:endParaRPr lang="en-US" sz="1500" dirty="0"/>
          </a:p>
        </p:txBody>
      </p:sp>
      <p:pic>
        <p:nvPicPr>
          <p:cNvPr id="6" name="Image 1" descr="/tmp/rasterized-gradient-ddb03b9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2495550"/>
            <a:ext cx="7810500" cy="723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8700" y="2705100"/>
            <a:ext cx="73060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temporais revelaram padrões críticos ignorados no baseline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66750" y="3505200"/>
            <a:ext cx="7810500" cy="1200150"/>
          </a:xfrm>
          <a:prstGeom prst="roundRect">
            <a:avLst>
              <a:gd name="adj" fmla="val 6349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880110" y="3790950"/>
            <a:ext cx="738378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16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76.19% de melhoria demonstram que investir em pré-processamento é tão importante quanto escolher algoritmos complexos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24042" y="952500"/>
            <a:ext cx="38959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spcAft>
                <a:spcPts val="3000"/>
              </a:spcAft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685800" y="2019300"/>
            <a:ext cx="777240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4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85800" y="2964061"/>
            <a:ext cx="77724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spcBef>
                <a:spcPts val="4500"/>
              </a:spcBef>
              <a:spcAft>
                <a:spcPts val="1500"/>
              </a:spcAft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Lucas Edson • Djefferson dos Santos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Impacto da Engenharia de Features Temporais</dc:title>
  <dc:subject>Pré-processamento de Dados</dc:subject>
  <dc:creator>Lucas Edson e Djefferson dos Santos</dc:creator>
  <cp:lastModifiedBy>Lucas Edson e Djefferson dos Santos</cp:lastModifiedBy>
  <cp:revision>1</cp:revision>
  <dcterms:created xsi:type="dcterms:W3CDTF">2025-11-16T15:12:33Z</dcterms:created>
  <dcterms:modified xsi:type="dcterms:W3CDTF">2025-11-16T15:12:33Z</dcterms:modified>
</cp:coreProperties>
</file>